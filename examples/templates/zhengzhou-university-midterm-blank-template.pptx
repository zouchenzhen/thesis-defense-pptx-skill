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14"/>
  </p:notesMasterIdLst>
  <p:sldIdLst>
    <p:sldId id="465" r:id="rId4"/>
    <p:sldId id="466" r:id="rId5"/>
    <p:sldId id="468" r:id="rId6"/>
    <p:sldId id="493" r:id="rId7"/>
    <p:sldId id="470" r:id="rId8"/>
    <p:sldId id="474" r:id="rId9"/>
    <p:sldId id="492" r:id="rId10"/>
    <p:sldId id="475" r:id="rId11"/>
    <p:sldId id="491" r:id="rId12"/>
    <p:sldId id="490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0604"/>
    <a:srgbClr val="222222"/>
    <a:srgbClr val="153F82"/>
    <a:srgbClr val="B31C2F"/>
    <a:srgbClr val="FFFFFF"/>
    <a:srgbClr val="074098"/>
    <a:srgbClr val="AE0A29"/>
    <a:srgbClr val="4F5D79"/>
    <a:srgbClr val="6F1682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88" autoAdjust="0"/>
    <p:restoredTop sz="94660"/>
  </p:normalViewPr>
  <p:slideViewPr>
    <p:cSldViewPr snapToGrid="0">
      <p:cViewPr>
        <p:scale>
          <a:sx n="75" d="100"/>
          <a:sy n="75" d="100"/>
        </p:scale>
        <p:origin x="57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3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ACD57-5B3F-403B-AE8D-B9A810C4EB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D8D28-79A6-4C89-82CE-9EC693ED11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38065" y="315104"/>
            <a:ext cx="2403244" cy="7499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85215" y="37465"/>
            <a:ext cx="2237740" cy="6982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EE297-474B-4A86-A7C8-228BCE0B5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77DEB-90F5-4A8C-8837-7104AE75A0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38065" y="315104"/>
            <a:ext cx="2403244" cy="7499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85215" y="37465"/>
            <a:ext cx="2237740" cy="6982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21885-D10A-4BD2-849D-C2BB74B3F2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A66B3-8A2B-473E-91A3-486606B39F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zouchenzhen.github.io/thesis-leo-routing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1991141"/>
            <a:ext cx="12192000" cy="21780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2891525" y="2490145"/>
            <a:ext cx="65966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600" dirty="0">
                <a:solidFill>
                  <a:schemeClr val="bg1"/>
                </a:solidFill>
              </a:rPr>
              <a:t>本科毕设中期检查答辩</a:t>
            </a:r>
            <a:endParaRPr lang="zh-CN" altLang="en-US" sz="4400" b="1" spc="600" dirty="0">
              <a:solidFill>
                <a:schemeClr val="bg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420361" y="3521525"/>
            <a:ext cx="13512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spc="300" dirty="0">
                <a:solidFill>
                  <a:schemeClr val="bg1"/>
                </a:solidFill>
              </a:rPr>
              <a:t>基于研究</a:t>
            </a:r>
            <a:endParaRPr lang="en-US" altLang="zh-CN" sz="2000" spc="300" dirty="0">
              <a:solidFill>
                <a:schemeClr val="bg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471583" y="4889265"/>
            <a:ext cx="14617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/>
              <a:t>答 辩 人：</a:t>
            </a:r>
            <a:endParaRPr lang="zh-CN" altLang="en-US" spc="300" dirty="0"/>
          </a:p>
        </p:txBody>
      </p:sp>
      <p:sp>
        <p:nvSpPr>
          <p:cNvPr id="91" name="Freeform 174"/>
          <p:cNvSpPr/>
          <p:nvPr/>
        </p:nvSpPr>
        <p:spPr bwMode="auto">
          <a:xfrm>
            <a:off x="2179264" y="4965931"/>
            <a:ext cx="216000" cy="216000"/>
          </a:xfrm>
          <a:custGeom>
            <a:avLst/>
            <a:gdLst>
              <a:gd name="T0" fmla="*/ 128 w 128"/>
              <a:gd name="T1" fmla="*/ 128 h 128"/>
              <a:gd name="T2" fmla="*/ 128 w 128"/>
              <a:gd name="T3" fmla="*/ 115 h 128"/>
              <a:gd name="T4" fmla="*/ 118 w 128"/>
              <a:gd name="T5" fmla="*/ 101 h 128"/>
              <a:gd name="T6" fmla="*/ 118 w 128"/>
              <a:gd name="T7" fmla="*/ 101 h 128"/>
              <a:gd name="T8" fmla="*/ 83 w 128"/>
              <a:gd name="T9" fmla="*/ 84 h 128"/>
              <a:gd name="T10" fmla="*/ 85 w 128"/>
              <a:gd name="T11" fmla="*/ 72 h 128"/>
              <a:gd name="T12" fmla="*/ 88 w 128"/>
              <a:gd name="T13" fmla="*/ 68 h 128"/>
              <a:gd name="T14" fmla="*/ 88 w 128"/>
              <a:gd name="T15" fmla="*/ 68 h 128"/>
              <a:gd name="T16" fmla="*/ 88 w 128"/>
              <a:gd name="T17" fmla="*/ 68 h 128"/>
              <a:gd name="T18" fmla="*/ 97 w 128"/>
              <a:gd name="T19" fmla="*/ 36 h 128"/>
              <a:gd name="T20" fmla="*/ 64 w 128"/>
              <a:gd name="T21" fmla="*/ 0 h 128"/>
              <a:gd name="T22" fmla="*/ 64 w 128"/>
              <a:gd name="T23" fmla="*/ 0 h 128"/>
              <a:gd name="T24" fmla="*/ 64 w 128"/>
              <a:gd name="T25" fmla="*/ 0 h 128"/>
              <a:gd name="T26" fmla="*/ 64 w 128"/>
              <a:gd name="T27" fmla="*/ 0 h 128"/>
              <a:gd name="T28" fmla="*/ 64 w 128"/>
              <a:gd name="T29" fmla="*/ 0 h 128"/>
              <a:gd name="T30" fmla="*/ 31 w 128"/>
              <a:gd name="T31" fmla="*/ 36 h 128"/>
              <a:gd name="T32" fmla="*/ 40 w 128"/>
              <a:gd name="T33" fmla="*/ 68 h 128"/>
              <a:gd name="T34" fmla="*/ 40 w 128"/>
              <a:gd name="T35" fmla="*/ 68 h 128"/>
              <a:gd name="T36" fmla="*/ 40 w 128"/>
              <a:gd name="T37" fmla="*/ 68 h 128"/>
              <a:gd name="T38" fmla="*/ 43 w 128"/>
              <a:gd name="T39" fmla="*/ 72 h 128"/>
              <a:gd name="T40" fmla="*/ 45 w 128"/>
              <a:gd name="T41" fmla="*/ 84 h 128"/>
              <a:gd name="T42" fmla="*/ 10 w 128"/>
              <a:gd name="T43" fmla="*/ 101 h 128"/>
              <a:gd name="T44" fmla="*/ 10 w 128"/>
              <a:gd name="T45" fmla="*/ 101 h 128"/>
              <a:gd name="T46" fmla="*/ 0 w 128"/>
              <a:gd name="T47" fmla="*/ 115 h 128"/>
              <a:gd name="T48" fmla="*/ 0 w 128"/>
              <a:gd name="T49" fmla="*/ 128 h 128"/>
              <a:gd name="T50" fmla="*/ 128 w 128"/>
              <a:gd name="T51" fmla="*/ 12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8" h="128">
                <a:moveTo>
                  <a:pt x="128" y="128"/>
                </a:moveTo>
                <a:cubicBezTo>
                  <a:pt x="128" y="115"/>
                  <a:pt x="128" y="115"/>
                  <a:pt x="128" y="115"/>
                </a:cubicBezTo>
                <a:cubicBezTo>
                  <a:pt x="128" y="108"/>
                  <a:pt x="124" y="103"/>
                  <a:pt x="118" y="101"/>
                </a:cubicBezTo>
                <a:cubicBezTo>
                  <a:pt x="118" y="101"/>
                  <a:pt x="118" y="101"/>
                  <a:pt x="118" y="101"/>
                </a:cubicBezTo>
                <a:cubicBezTo>
                  <a:pt x="117" y="100"/>
                  <a:pt x="87" y="93"/>
                  <a:pt x="83" y="84"/>
                </a:cubicBezTo>
                <a:cubicBezTo>
                  <a:pt x="81" y="80"/>
                  <a:pt x="83" y="75"/>
                  <a:pt x="85" y="72"/>
                </a:cubicBezTo>
                <a:cubicBezTo>
                  <a:pt x="86" y="71"/>
                  <a:pt x="87" y="69"/>
                  <a:pt x="88" y="68"/>
                </a:cubicBezTo>
                <a:cubicBezTo>
                  <a:pt x="88" y="68"/>
                  <a:pt x="88" y="68"/>
                  <a:pt x="88" y="68"/>
                </a:cubicBezTo>
                <a:cubicBezTo>
                  <a:pt x="88" y="68"/>
                  <a:pt x="88" y="68"/>
                  <a:pt x="88" y="68"/>
                </a:cubicBezTo>
                <a:cubicBezTo>
                  <a:pt x="93" y="60"/>
                  <a:pt x="97" y="49"/>
                  <a:pt x="97" y="36"/>
                </a:cubicBezTo>
                <a:cubicBezTo>
                  <a:pt x="98" y="16"/>
                  <a:pt x="82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46" y="0"/>
                  <a:pt x="30" y="16"/>
                  <a:pt x="31" y="36"/>
                </a:cubicBezTo>
                <a:cubicBezTo>
                  <a:pt x="31" y="49"/>
                  <a:pt x="35" y="60"/>
                  <a:pt x="40" y="68"/>
                </a:cubicBezTo>
                <a:cubicBezTo>
                  <a:pt x="40" y="68"/>
                  <a:pt x="40" y="68"/>
                  <a:pt x="40" y="68"/>
                </a:cubicBezTo>
                <a:cubicBezTo>
                  <a:pt x="40" y="68"/>
                  <a:pt x="40" y="68"/>
                  <a:pt x="40" y="68"/>
                </a:cubicBezTo>
                <a:cubicBezTo>
                  <a:pt x="41" y="69"/>
                  <a:pt x="42" y="71"/>
                  <a:pt x="43" y="72"/>
                </a:cubicBezTo>
                <a:cubicBezTo>
                  <a:pt x="45" y="75"/>
                  <a:pt x="47" y="80"/>
                  <a:pt x="45" y="84"/>
                </a:cubicBezTo>
                <a:cubicBezTo>
                  <a:pt x="41" y="93"/>
                  <a:pt x="11" y="100"/>
                  <a:pt x="10" y="101"/>
                </a:cubicBezTo>
                <a:cubicBezTo>
                  <a:pt x="10" y="101"/>
                  <a:pt x="10" y="101"/>
                  <a:pt x="10" y="101"/>
                </a:cubicBezTo>
                <a:cubicBezTo>
                  <a:pt x="4" y="103"/>
                  <a:pt x="0" y="108"/>
                  <a:pt x="0" y="115"/>
                </a:cubicBezTo>
                <a:cubicBezTo>
                  <a:pt x="0" y="128"/>
                  <a:pt x="0" y="128"/>
                  <a:pt x="0" y="128"/>
                </a:cubicBezTo>
                <a:lnTo>
                  <a:pt x="128" y="1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8042438" y="5394262"/>
            <a:ext cx="299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200" dirty="0"/>
              <a:t>答辩时间：</a:t>
            </a:r>
            <a:r>
              <a:rPr lang="en-US" altLang="zh-CN" spc="200" dirty="0"/>
              <a:t>2026/04/10</a:t>
            </a:r>
            <a:endParaRPr lang="zh-CN" altLang="en-US" dirty="0"/>
          </a:p>
        </p:txBody>
      </p:sp>
      <p:grpSp>
        <p:nvGrpSpPr>
          <p:cNvPr id="92" name="组合 91"/>
          <p:cNvGrpSpPr/>
          <p:nvPr/>
        </p:nvGrpSpPr>
        <p:grpSpPr>
          <a:xfrm>
            <a:off x="7750119" y="5470928"/>
            <a:ext cx="216000" cy="216000"/>
            <a:chOff x="7296150" y="5111751"/>
            <a:chExt cx="479425" cy="481013"/>
          </a:xfrm>
          <a:solidFill>
            <a:schemeClr val="accent1"/>
          </a:solidFill>
        </p:grpSpPr>
        <p:sp>
          <p:nvSpPr>
            <p:cNvPr id="93" name="Freeform 56"/>
            <p:cNvSpPr>
              <a:spLocks noEditPoints="1"/>
            </p:cNvSpPr>
            <p:nvPr/>
          </p:nvSpPr>
          <p:spPr bwMode="auto">
            <a:xfrm>
              <a:off x="7296150" y="5111751"/>
              <a:ext cx="479425" cy="481013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64 w 128"/>
                <a:gd name="T9" fmla="*/ 0 h 128"/>
                <a:gd name="T10" fmla="*/ 64 w 128"/>
                <a:gd name="T11" fmla="*/ 113 h 128"/>
                <a:gd name="T12" fmla="*/ 15 w 128"/>
                <a:gd name="T13" fmla="*/ 64 h 128"/>
                <a:gd name="T14" fmla="*/ 64 w 128"/>
                <a:gd name="T15" fmla="*/ 15 h 128"/>
                <a:gd name="T16" fmla="*/ 113 w 128"/>
                <a:gd name="T17" fmla="*/ 64 h 128"/>
                <a:gd name="T18" fmla="*/ 64 w 128"/>
                <a:gd name="T19" fmla="*/ 11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64" y="113"/>
                  </a:moveTo>
                  <a:cubicBezTo>
                    <a:pt x="37" y="113"/>
                    <a:pt x="15" y="91"/>
                    <a:pt x="15" y="64"/>
                  </a:cubicBezTo>
                  <a:cubicBezTo>
                    <a:pt x="15" y="37"/>
                    <a:pt x="37" y="15"/>
                    <a:pt x="64" y="15"/>
                  </a:cubicBezTo>
                  <a:cubicBezTo>
                    <a:pt x="91" y="15"/>
                    <a:pt x="113" y="37"/>
                    <a:pt x="113" y="64"/>
                  </a:cubicBezTo>
                  <a:cubicBezTo>
                    <a:pt x="113" y="91"/>
                    <a:pt x="91" y="113"/>
                    <a:pt x="64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57"/>
            <p:cNvSpPr/>
            <p:nvPr/>
          </p:nvSpPr>
          <p:spPr bwMode="auto">
            <a:xfrm>
              <a:off x="7508875" y="5221288"/>
              <a:ext cx="153988" cy="214313"/>
            </a:xfrm>
            <a:custGeom>
              <a:avLst/>
              <a:gdLst>
                <a:gd name="T0" fmla="*/ 33 w 97"/>
                <a:gd name="T1" fmla="*/ 0 h 135"/>
                <a:gd name="T2" fmla="*/ 0 w 97"/>
                <a:gd name="T3" fmla="*/ 0 h 135"/>
                <a:gd name="T4" fmla="*/ 0 w 97"/>
                <a:gd name="T5" fmla="*/ 99 h 135"/>
                <a:gd name="T6" fmla="*/ 86 w 97"/>
                <a:gd name="T7" fmla="*/ 135 h 135"/>
                <a:gd name="T8" fmla="*/ 97 w 97"/>
                <a:gd name="T9" fmla="*/ 104 h 135"/>
                <a:gd name="T10" fmla="*/ 33 w 97"/>
                <a:gd name="T11" fmla="*/ 78 h 135"/>
                <a:gd name="T12" fmla="*/ 33 w 97"/>
                <a:gd name="T1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135">
                  <a:moveTo>
                    <a:pt x="33" y="0"/>
                  </a:moveTo>
                  <a:lnTo>
                    <a:pt x="0" y="0"/>
                  </a:lnTo>
                  <a:lnTo>
                    <a:pt x="0" y="99"/>
                  </a:lnTo>
                  <a:lnTo>
                    <a:pt x="86" y="135"/>
                  </a:lnTo>
                  <a:lnTo>
                    <a:pt x="97" y="104"/>
                  </a:lnTo>
                  <a:lnTo>
                    <a:pt x="33" y="78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8042438" y="4889803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200" dirty="0"/>
              <a:t>专 业：通信工程</a:t>
            </a:r>
            <a:endParaRPr lang="zh-CN" altLang="en-US" dirty="0"/>
          </a:p>
        </p:txBody>
      </p:sp>
      <p:sp>
        <p:nvSpPr>
          <p:cNvPr id="95" name="Freeform 146"/>
          <p:cNvSpPr/>
          <p:nvPr/>
        </p:nvSpPr>
        <p:spPr bwMode="auto">
          <a:xfrm>
            <a:off x="7767775" y="4967119"/>
            <a:ext cx="180689" cy="214701"/>
          </a:xfrm>
          <a:custGeom>
            <a:avLst/>
            <a:gdLst>
              <a:gd name="T0" fmla="*/ 14 w 108"/>
              <a:gd name="T1" fmla="*/ 10 h 128"/>
              <a:gd name="T2" fmla="*/ 14 w 108"/>
              <a:gd name="T3" fmla="*/ 10 h 128"/>
              <a:gd name="T4" fmla="*/ 108 w 108"/>
              <a:gd name="T5" fmla="*/ 10 h 128"/>
              <a:gd name="T6" fmla="*/ 108 w 108"/>
              <a:gd name="T7" fmla="*/ 0 h 128"/>
              <a:gd name="T8" fmla="*/ 15 w 108"/>
              <a:gd name="T9" fmla="*/ 0 h 128"/>
              <a:gd name="T10" fmla="*/ 0 w 108"/>
              <a:gd name="T11" fmla="*/ 15 h 128"/>
              <a:gd name="T12" fmla="*/ 0 w 108"/>
              <a:gd name="T13" fmla="*/ 113 h 128"/>
              <a:gd name="T14" fmla="*/ 0 w 108"/>
              <a:gd name="T15" fmla="*/ 113 h 128"/>
              <a:gd name="T16" fmla="*/ 15 w 108"/>
              <a:gd name="T17" fmla="*/ 128 h 128"/>
              <a:gd name="T18" fmla="*/ 108 w 108"/>
              <a:gd name="T19" fmla="*/ 128 h 128"/>
              <a:gd name="T20" fmla="*/ 108 w 108"/>
              <a:gd name="T21" fmla="*/ 20 h 128"/>
              <a:gd name="T22" fmla="*/ 14 w 108"/>
              <a:gd name="T23" fmla="*/ 20 h 128"/>
              <a:gd name="T24" fmla="*/ 14 w 108"/>
              <a:gd name="T25" fmla="*/ 20 h 128"/>
              <a:gd name="T26" fmla="*/ 10 w 108"/>
              <a:gd name="T27" fmla="*/ 15 h 128"/>
              <a:gd name="T28" fmla="*/ 14 w 108"/>
              <a:gd name="T29" fmla="*/ 1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8" h="128">
                <a:moveTo>
                  <a:pt x="14" y="10"/>
                </a:moveTo>
                <a:cubicBezTo>
                  <a:pt x="14" y="10"/>
                  <a:pt x="14" y="10"/>
                  <a:pt x="14" y="10"/>
                </a:cubicBezTo>
                <a:cubicBezTo>
                  <a:pt x="15" y="10"/>
                  <a:pt x="78" y="10"/>
                  <a:pt x="108" y="10"/>
                </a:cubicBezTo>
                <a:cubicBezTo>
                  <a:pt x="108" y="0"/>
                  <a:pt x="108" y="0"/>
                  <a:pt x="108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7"/>
                  <a:pt x="0" y="15"/>
                </a:cubicBezTo>
                <a:cubicBezTo>
                  <a:pt x="0" y="16"/>
                  <a:pt x="0" y="83"/>
                  <a:pt x="0" y="113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21"/>
                  <a:pt x="7" y="128"/>
                  <a:pt x="15" y="128"/>
                </a:cubicBezTo>
                <a:cubicBezTo>
                  <a:pt x="15" y="128"/>
                  <a:pt x="82" y="128"/>
                  <a:pt x="108" y="128"/>
                </a:cubicBezTo>
                <a:cubicBezTo>
                  <a:pt x="108" y="20"/>
                  <a:pt x="108" y="20"/>
                  <a:pt x="108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2" y="19"/>
                  <a:pt x="10" y="17"/>
                  <a:pt x="10" y="15"/>
                </a:cubicBezTo>
                <a:cubicBezTo>
                  <a:pt x="10" y="12"/>
                  <a:pt x="12" y="10"/>
                  <a:pt x="14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2471583" y="5393724"/>
            <a:ext cx="1452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200" dirty="0"/>
              <a:t>指导老师：</a:t>
            </a:r>
            <a:endParaRPr lang="zh-CN" altLang="en-US" dirty="0"/>
          </a:p>
        </p:txBody>
      </p:sp>
      <p:sp>
        <p:nvSpPr>
          <p:cNvPr id="96" name="teacher-reading-a-book-sitting-behind-his-desk_42916"/>
          <p:cNvSpPr/>
          <p:nvPr/>
        </p:nvSpPr>
        <p:spPr>
          <a:xfrm>
            <a:off x="2179264" y="5452809"/>
            <a:ext cx="216000" cy="251163"/>
          </a:xfrm>
          <a:custGeom>
            <a:avLst/>
            <a:gdLst>
              <a:gd name="connsiteX0" fmla="*/ 193784 w 523934"/>
              <a:gd name="connsiteY0" fmla="*/ 190536 h 609225"/>
              <a:gd name="connsiteX1" fmla="*/ 193784 w 523934"/>
              <a:gd name="connsiteY1" fmla="*/ 227817 h 609225"/>
              <a:gd name="connsiteX2" fmla="*/ 205267 w 523934"/>
              <a:gd name="connsiteY2" fmla="*/ 227817 h 609225"/>
              <a:gd name="connsiteX3" fmla="*/ 205267 w 523934"/>
              <a:gd name="connsiteY3" fmla="*/ 273700 h 609225"/>
              <a:gd name="connsiteX4" fmla="*/ 193784 w 523934"/>
              <a:gd name="connsiteY4" fmla="*/ 273700 h 609225"/>
              <a:gd name="connsiteX5" fmla="*/ 193784 w 523934"/>
              <a:gd name="connsiteY5" fmla="*/ 283737 h 609225"/>
              <a:gd name="connsiteX6" fmla="*/ 256943 w 523934"/>
              <a:gd name="connsiteY6" fmla="*/ 295208 h 609225"/>
              <a:gd name="connsiteX7" fmla="*/ 320102 w 523934"/>
              <a:gd name="connsiteY7" fmla="*/ 283737 h 609225"/>
              <a:gd name="connsiteX8" fmla="*/ 320102 w 523934"/>
              <a:gd name="connsiteY8" fmla="*/ 273700 h 609225"/>
              <a:gd name="connsiteX9" fmla="*/ 308619 w 523934"/>
              <a:gd name="connsiteY9" fmla="*/ 273700 h 609225"/>
              <a:gd name="connsiteX10" fmla="*/ 308619 w 523934"/>
              <a:gd name="connsiteY10" fmla="*/ 227817 h 609225"/>
              <a:gd name="connsiteX11" fmla="*/ 320102 w 523934"/>
              <a:gd name="connsiteY11" fmla="*/ 227817 h 609225"/>
              <a:gd name="connsiteX12" fmla="*/ 320102 w 523934"/>
              <a:gd name="connsiteY12" fmla="*/ 190536 h 609225"/>
              <a:gd name="connsiteX13" fmla="*/ 256943 w 523934"/>
              <a:gd name="connsiteY13" fmla="*/ 202007 h 609225"/>
              <a:gd name="connsiteX14" fmla="*/ 175123 w 523934"/>
              <a:gd name="connsiteY14" fmla="*/ 167594 h 609225"/>
              <a:gd name="connsiteX15" fmla="*/ 256943 w 523934"/>
              <a:gd name="connsiteY15" fmla="*/ 181933 h 609225"/>
              <a:gd name="connsiteX16" fmla="*/ 340198 w 523934"/>
              <a:gd name="connsiteY16" fmla="*/ 167594 h 609225"/>
              <a:gd name="connsiteX17" fmla="*/ 340198 w 523934"/>
              <a:gd name="connsiteY17" fmla="*/ 184801 h 609225"/>
              <a:gd name="connsiteX18" fmla="*/ 384697 w 523934"/>
              <a:gd name="connsiteY18" fmla="*/ 190536 h 609225"/>
              <a:gd name="connsiteX19" fmla="*/ 394745 w 523934"/>
              <a:gd name="connsiteY19" fmla="*/ 227817 h 609225"/>
              <a:gd name="connsiteX20" fmla="*/ 409099 w 523934"/>
              <a:gd name="connsiteY20" fmla="*/ 273700 h 609225"/>
              <a:gd name="connsiteX21" fmla="*/ 348811 w 523934"/>
              <a:gd name="connsiteY21" fmla="*/ 273700 h 609225"/>
              <a:gd name="connsiteX22" fmla="*/ 350246 w 523934"/>
              <a:gd name="connsiteY22" fmla="*/ 308113 h 609225"/>
              <a:gd name="connsiteX23" fmla="*/ 523934 w 523934"/>
              <a:gd name="connsiteY23" fmla="*/ 308113 h 609225"/>
              <a:gd name="connsiteX24" fmla="*/ 523934 w 523934"/>
              <a:gd name="connsiteY24" fmla="*/ 376939 h 609225"/>
              <a:gd name="connsiteX25" fmla="*/ 482306 w 523934"/>
              <a:gd name="connsiteY25" fmla="*/ 376939 h 609225"/>
              <a:gd name="connsiteX26" fmla="*/ 482306 w 523934"/>
              <a:gd name="connsiteY26" fmla="*/ 609225 h 609225"/>
              <a:gd name="connsiteX27" fmla="*/ 41628 w 523934"/>
              <a:gd name="connsiteY27" fmla="*/ 609225 h 609225"/>
              <a:gd name="connsiteX28" fmla="*/ 41628 w 523934"/>
              <a:gd name="connsiteY28" fmla="*/ 376939 h 609225"/>
              <a:gd name="connsiteX29" fmla="*/ 0 w 523934"/>
              <a:gd name="connsiteY29" fmla="*/ 376939 h 609225"/>
              <a:gd name="connsiteX30" fmla="*/ 0 w 523934"/>
              <a:gd name="connsiteY30" fmla="*/ 308113 h 609225"/>
              <a:gd name="connsiteX31" fmla="*/ 170817 w 523934"/>
              <a:gd name="connsiteY31" fmla="*/ 308113 h 609225"/>
              <a:gd name="connsiteX32" fmla="*/ 170817 w 523934"/>
              <a:gd name="connsiteY32" fmla="*/ 273700 h 609225"/>
              <a:gd name="connsiteX33" fmla="*/ 99045 w 523934"/>
              <a:gd name="connsiteY33" fmla="*/ 273700 h 609225"/>
              <a:gd name="connsiteX34" fmla="*/ 104787 w 523934"/>
              <a:gd name="connsiteY34" fmla="*/ 262229 h 609225"/>
              <a:gd name="connsiteX35" fmla="*/ 103351 w 523934"/>
              <a:gd name="connsiteY35" fmla="*/ 262229 h 609225"/>
              <a:gd name="connsiteX36" fmla="*/ 139237 w 523934"/>
              <a:gd name="connsiteY36" fmla="*/ 190536 h 609225"/>
              <a:gd name="connsiteX37" fmla="*/ 175123 w 523934"/>
              <a:gd name="connsiteY37" fmla="*/ 186235 h 609225"/>
              <a:gd name="connsiteX38" fmla="*/ 261393 w 523934"/>
              <a:gd name="connsiteY38" fmla="*/ 0 h 609225"/>
              <a:gd name="connsiteX39" fmla="*/ 344616 w 523934"/>
              <a:gd name="connsiteY39" fmla="*/ 83108 h 609225"/>
              <a:gd name="connsiteX40" fmla="*/ 261393 w 523934"/>
              <a:gd name="connsiteY40" fmla="*/ 166216 h 609225"/>
              <a:gd name="connsiteX41" fmla="*/ 178170 w 523934"/>
              <a:gd name="connsiteY41" fmla="*/ 83108 h 609225"/>
              <a:gd name="connsiteX42" fmla="*/ 261393 w 523934"/>
              <a:gd name="connsiteY42" fmla="*/ 0 h 60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23934" h="609225">
                <a:moveTo>
                  <a:pt x="193784" y="190536"/>
                </a:moveTo>
                <a:lnTo>
                  <a:pt x="193784" y="227817"/>
                </a:lnTo>
                <a:lnTo>
                  <a:pt x="205267" y="227817"/>
                </a:lnTo>
                <a:lnTo>
                  <a:pt x="205267" y="273700"/>
                </a:lnTo>
                <a:lnTo>
                  <a:pt x="193784" y="273700"/>
                </a:lnTo>
                <a:lnTo>
                  <a:pt x="193784" y="283737"/>
                </a:lnTo>
                <a:lnTo>
                  <a:pt x="256943" y="295208"/>
                </a:lnTo>
                <a:lnTo>
                  <a:pt x="320102" y="283737"/>
                </a:lnTo>
                <a:lnTo>
                  <a:pt x="320102" y="273700"/>
                </a:lnTo>
                <a:lnTo>
                  <a:pt x="308619" y="273700"/>
                </a:lnTo>
                <a:lnTo>
                  <a:pt x="308619" y="227817"/>
                </a:lnTo>
                <a:lnTo>
                  <a:pt x="320102" y="227817"/>
                </a:lnTo>
                <a:lnTo>
                  <a:pt x="320102" y="190536"/>
                </a:lnTo>
                <a:lnTo>
                  <a:pt x="256943" y="202007"/>
                </a:lnTo>
                <a:close/>
                <a:moveTo>
                  <a:pt x="175123" y="167594"/>
                </a:moveTo>
                <a:lnTo>
                  <a:pt x="256943" y="181933"/>
                </a:lnTo>
                <a:lnTo>
                  <a:pt x="340198" y="167594"/>
                </a:lnTo>
                <a:lnTo>
                  <a:pt x="340198" y="184801"/>
                </a:lnTo>
                <a:lnTo>
                  <a:pt x="384697" y="190536"/>
                </a:lnTo>
                <a:lnTo>
                  <a:pt x="394745" y="227817"/>
                </a:lnTo>
                <a:lnTo>
                  <a:pt x="409099" y="273700"/>
                </a:lnTo>
                <a:lnTo>
                  <a:pt x="348811" y="273700"/>
                </a:lnTo>
                <a:lnTo>
                  <a:pt x="350246" y="308113"/>
                </a:lnTo>
                <a:lnTo>
                  <a:pt x="523934" y="308113"/>
                </a:lnTo>
                <a:lnTo>
                  <a:pt x="523934" y="376939"/>
                </a:lnTo>
                <a:lnTo>
                  <a:pt x="482306" y="376939"/>
                </a:lnTo>
                <a:lnTo>
                  <a:pt x="482306" y="609225"/>
                </a:lnTo>
                <a:lnTo>
                  <a:pt x="41628" y="609225"/>
                </a:lnTo>
                <a:lnTo>
                  <a:pt x="41628" y="376939"/>
                </a:lnTo>
                <a:lnTo>
                  <a:pt x="0" y="376939"/>
                </a:lnTo>
                <a:lnTo>
                  <a:pt x="0" y="308113"/>
                </a:lnTo>
                <a:lnTo>
                  <a:pt x="170817" y="308113"/>
                </a:lnTo>
                <a:lnTo>
                  <a:pt x="170817" y="273700"/>
                </a:lnTo>
                <a:lnTo>
                  <a:pt x="99045" y="273700"/>
                </a:lnTo>
                <a:lnTo>
                  <a:pt x="104787" y="262229"/>
                </a:lnTo>
                <a:lnTo>
                  <a:pt x="103351" y="262229"/>
                </a:lnTo>
                <a:lnTo>
                  <a:pt x="139237" y="190536"/>
                </a:lnTo>
                <a:lnTo>
                  <a:pt x="175123" y="186235"/>
                </a:lnTo>
                <a:close/>
                <a:moveTo>
                  <a:pt x="261393" y="0"/>
                </a:moveTo>
                <a:cubicBezTo>
                  <a:pt x="307356" y="0"/>
                  <a:pt x="344616" y="37209"/>
                  <a:pt x="344616" y="83108"/>
                </a:cubicBezTo>
                <a:cubicBezTo>
                  <a:pt x="344616" y="129007"/>
                  <a:pt x="307356" y="166216"/>
                  <a:pt x="261393" y="166216"/>
                </a:cubicBezTo>
                <a:cubicBezTo>
                  <a:pt x="215430" y="166216"/>
                  <a:pt x="178170" y="129007"/>
                  <a:pt x="178170" y="83108"/>
                </a:cubicBezTo>
                <a:cubicBezTo>
                  <a:pt x="178170" y="37209"/>
                  <a:pt x="215430" y="0"/>
                  <a:pt x="26139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215" y="0"/>
            <a:ext cx="2089569" cy="208956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"/>
            <a:ext cx="269823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/>
          <p:cNvGrpSpPr/>
          <p:nvPr/>
        </p:nvGrpSpPr>
        <p:grpSpPr>
          <a:xfrm>
            <a:off x="5098064" y="654662"/>
            <a:ext cx="4491422" cy="1015663"/>
            <a:chOff x="4859940" y="886890"/>
            <a:chExt cx="4491422" cy="1015663"/>
          </a:xfrm>
        </p:grpSpPr>
        <p:sp>
          <p:nvSpPr>
            <p:cNvPr id="78" name="文本框 77"/>
            <p:cNvSpPr txBox="1"/>
            <p:nvPr/>
          </p:nvSpPr>
          <p:spPr>
            <a:xfrm>
              <a:off x="4859940" y="886890"/>
              <a:ext cx="449142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0" b="1" dirty="0">
                  <a:solidFill>
                    <a:schemeClr val="accent1">
                      <a:lumMod val="20000"/>
                      <a:lumOff val="80000"/>
                      <a:alpha val="20000"/>
                    </a:schemeClr>
                  </a:solidFill>
                </a:rPr>
                <a:t>CONTENTS</a:t>
              </a:r>
              <a:endParaRPr lang="zh-CN" altLang="en-US" sz="6000" b="1" dirty="0">
                <a:solidFill>
                  <a:schemeClr val="accent1">
                    <a:lumMod val="20000"/>
                    <a:lumOff val="80000"/>
                    <a:alpha val="20000"/>
                  </a:schemeClr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243876" y="933056"/>
              <a:ext cx="172355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5400" b="1" spc="600" dirty="0">
                  <a:solidFill>
                    <a:schemeClr val="accent1"/>
                  </a:solidFill>
                </a:rPr>
                <a:t>目录</a:t>
              </a:r>
              <a:endParaRPr lang="zh-CN" altLang="en-US" sz="5400" b="1" spc="6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6132820" y="1882343"/>
            <a:ext cx="880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</a:rPr>
              <a:t>01</a:t>
            </a:r>
            <a:endParaRPr lang="zh-CN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386921" y="203623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项目简介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30" y="2384215"/>
            <a:ext cx="2089569" cy="208956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32820" y="2651784"/>
            <a:ext cx="880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</a:rPr>
              <a:t>02</a:t>
            </a:r>
            <a:endParaRPr lang="zh-CN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86921" y="28056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系统框图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32820" y="3421225"/>
            <a:ext cx="880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</a:rPr>
              <a:t>03</a:t>
            </a:r>
            <a:endParaRPr lang="zh-CN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86921" y="357511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算法设计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32820" y="4190666"/>
            <a:ext cx="880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</a:rPr>
              <a:t>04</a:t>
            </a:r>
            <a:endParaRPr lang="zh-CN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86921" y="434455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成果展示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32820" y="4960107"/>
            <a:ext cx="8803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</a:rPr>
              <a:t>05</a:t>
            </a:r>
            <a:endParaRPr lang="zh-CN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86921" y="511399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总结分析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36072" y="250187"/>
            <a:ext cx="7423123" cy="371145"/>
            <a:chOff x="136072" y="250187"/>
            <a:chExt cx="7423123" cy="371145"/>
          </a:xfrm>
        </p:grpSpPr>
        <p:sp>
          <p:nvSpPr>
            <p:cNvPr id="42" name="文本框 41"/>
            <p:cNvSpPr txBox="1"/>
            <p:nvPr/>
          </p:nvSpPr>
          <p:spPr>
            <a:xfrm>
              <a:off x="136072" y="250187"/>
              <a:ext cx="1107996" cy="369332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项目简介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713434" y="25018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系统框图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290798" y="25018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算法设计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478751" y="297875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3056113" y="297875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/>
            <p:cNvSpPr txBox="1"/>
            <p:nvPr/>
          </p:nvSpPr>
          <p:spPr>
            <a:xfrm>
              <a:off x="4874005" y="25200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成果展示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4633200" y="298800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210000" y="298800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6451199" y="25200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总结分析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7334891" y="5706577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/>
              <a:t>可视化界面（地</a:t>
            </a:r>
            <a:endParaRPr lang="zh-CN" altLang="en-US" dirty="0">
              <a:hlinkClick r:id="rId1" action="ppaction://hlinkfil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9275" y="1959610"/>
            <a:ext cx="5372735" cy="1772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</p:txBody>
      </p:sp>
      <p:sp>
        <p:nvSpPr>
          <p:cNvPr id="29" name="矩形: 圆角 28"/>
          <p:cNvSpPr/>
          <p:nvPr/>
        </p:nvSpPr>
        <p:spPr>
          <a:xfrm>
            <a:off x="398780" y="1936115"/>
            <a:ext cx="5522595" cy="2214245"/>
          </a:xfrm>
          <a:prstGeom prst="roundRect">
            <a:avLst>
              <a:gd name="adj" fmla="val 303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28"/>
          <p:cNvSpPr/>
          <p:nvPr/>
        </p:nvSpPr>
        <p:spPr>
          <a:xfrm>
            <a:off x="398780" y="4485005"/>
            <a:ext cx="5522595" cy="1450340"/>
          </a:xfrm>
          <a:prstGeom prst="roundRect">
            <a:avLst>
              <a:gd name="adj" fmla="val 303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149225" y="996950"/>
            <a:ext cx="4859020" cy="83502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2400" b="1" dirty="0">
                <a:solidFill>
                  <a:schemeClr val="accent1"/>
                </a:solidFill>
                <a:sym typeface="+mn-ea"/>
              </a:rPr>
              <a:t>项目核心工作分为以下三个阶段：</a:t>
            </a:r>
            <a:endParaRPr lang="zh-CN" altLang="en-US" sz="2400"/>
          </a:p>
          <a:p>
            <a:pPr algn="l"/>
            <a:endParaRPr lang="zh-CN" altLang="en-US" sz="2400"/>
          </a:p>
          <a:p>
            <a:pPr algn="l"/>
            <a:endParaRPr lang="zh-CN" altLang="en-US" sz="2400"/>
          </a:p>
          <a:p>
            <a:endParaRPr lang="zh-CN" altLang="en-US" sz="2400" b="1" dirty="0">
              <a:solidFill>
                <a:schemeClr val="accent1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36072" y="250187"/>
            <a:ext cx="7423123" cy="371145"/>
            <a:chOff x="136072" y="250187"/>
            <a:chExt cx="7423123" cy="371145"/>
          </a:xfrm>
        </p:grpSpPr>
        <p:sp>
          <p:nvSpPr>
            <p:cNvPr id="42" name="文本框 41"/>
            <p:cNvSpPr txBox="1"/>
            <p:nvPr/>
          </p:nvSpPr>
          <p:spPr>
            <a:xfrm>
              <a:off x="136072" y="250187"/>
              <a:ext cx="1107996" cy="369332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项目简介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713434" y="25018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系统框图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290798" y="25018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算法设计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1478751" y="297875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3056113" y="297875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/>
            <p:cNvSpPr txBox="1"/>
            <p:nvPr/>
          </p:nvSpPr>
          <p:spPr>
            <a:xfrm>
              <a:off x="4874005" y="25200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成果展示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4633200" y="298800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210000" y="298800"/>
              <a:ext cx="0" cy="2739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6451199" y="25200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总结分析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8580" y="4742815"/>
            <a:ext cx="3520440" cy="412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6" name="矩形: 圆角 4"/>
          <p:cNvSpPr/>
          <p:nvPr/>
        </p:nvSpPr>
        <p:spPr>
          <a:xfrm>
            <a:off x="1023620" y="1965325"/>
            <a:ext cx="2847975" cy="3703955"/>
          </a:xfrm>
          <a:prstGeom prst="roundRect">
            <a:avLst>
              <a:gd name="adj" fmla="val 303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4"/>
          <p:cNvSpPr/>
          <p:nvPr/>
        </p:nvSpPr>
        <p:spPr>
          <a:xfrm>
            <a:off x="4591050" y="1965325"/>
            <a:ext cx="2847975" cy="3704590"/>
          </a:xfrm>
          <a:prstGeom prst="roundRect">
            <a:avLst>
              <a:gd name="adj" fmla="val 303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4"/>
          <p:cNvSpPr/>
          <p:nvPr/>
        </p:nvSpPr>
        <p:spPr>
          <a:xfrm>
            <a:off x="8158480" y="1965325"/>
            <a:ext cx="2847975" cy="3704590"/>
          </a:xfrm>
          <a:prstGeom prst="roundRect">
            <a:avLst>
              <a:gd name="adj" fmla="val 303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495425" y="2829560"/>
            <a:ext cx="2009140" cy="2675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sym typeface="+mn-ea"/>
              </a:rPr>
              <a:t>采用时间离散化机制生成卫星节点与星间链路的拓扑快照，模拟真实的卫星运动规律。</a:t>
            </a:r>
            <a:endParaRPr lang="zh-CN" altLang="en-US" sz="2000"/>
          </a:p>
          <a:p>
            <a:endParaRPr lang="zh-CN" altLang="en-US" sz="2000"/>
          </a:p>
        </p:txBody>
      </p:sp>
      <p:sp>
        <p:nvSpPr>
          <p:cNvPr id="21" name="文本框 20"/>
          <p:cNvSpPr txBox="1"/>
          <p:nvPr/>
        </p:nvSpPr>
        <p:spPr>
          <a:xfrm>
            <a:off x="4996815" y="2829560"/>
            <a:ext cx="2056130" cy="3002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sym typeface="+mn-ea"/>
              </a:rPr>
              <a:t>构建强化学习所需的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状态</a:t>
            </a:r>
            <a:r>
              <a:rPr lang="en-US" altLang="zh-CN" sz="2000">
                <a:sym typeface="+mn-ea"/>
              </a:rPr>
              <a:t>—</a:t>
            </a:r>
            <a:r>
              <a:rPr lang="zh-CN" altLang="en-US" sz="2000">
                <a:sym typeface="+mn-ea"/>
              </a:rPr>
              <a:t>动作</a:t>
            </a:r>
            <a:r>
              <a:rPr lang="en-US" altLang="zh-CN" sz="2000">
                <a:sym typeface="+mn-ea"/>
              </a:rPr>
              <a:t>—</a:t>
            </a:r>
            <a:r>
              <a:rPr lang="zh-CN" altLang="en-US" sz="2000">
                <a:sym typeface="+mn-ea"/>
              </a:rPr>
              <a:t>回报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交互接口，使卫星节点能根据链路状态智能选择下一路径。</a:t>
            </a:r>
            <a:endParaRPr lang="zh-CN" altLang="en-US" sz="2000"/>
          </a:p>
          <a:p>
            <a:endParaRPr lang="zh-CN" altLang="en-US" sz="2000"/>
          </a:p>
        </p:txBody>
      </p:sp>
      <p:sp>
        <p:nvSpPr>
          <p:cNvPr id="22" name="文本框 21"/>
          <p:cNvSpPr txBox="1"/>
          <p:nvPr/>
        </p:nvSpPr>
        <p:spPr>
          <a:xfrm>
            <a:off x="8570595" y="2829560"/>
            <a:ext cx="208407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ym typeface="+mn-ea"/>
              </a:rPr>
              <a:t>在不同种子下开展实验，并通过固定随机种子确保实验的可复现性。</a:t>
            </a:r>
            <a:endParaRPr lang="zh-CN" altLang="en-US" sz="2000">
              <a:sym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457960" y="2218690"/>
            <a:ext cx="1829435" cy="404495"/>
            <a:chOff x="1806222" y="1779848"/>
            <a:chExt cx="1661384" cy="404735"/>
          </a:xfrm>
        </p:grpSpPr>
        <p:sp>
          <p:nvSpPr>
            <p:cNvPr id="23" name="矩形 22"/>
            <p:cNvSpPr/>
            <p:nvPr/>
          </p:nvSpPr>
          <p:spPr>
            <a:xfrm>
              <a:off x="1851942" y="1779848"/>
              <a:ext cx="1615664" cy="40473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3000">
                  <a:schemeClr val="accent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ym typeface="+mn-ea"/>
                </a:rPr>
                <a:t>拓扑演化建模</a:t>
              </a:r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1806222" y="1779849"/>
              <a:ext cx="45719" cy="4047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092700" y="2218690"/>
            <a:ext cx="1834515" cy="404495"/>
            <a:chOff x="1806222" y="1779848"/>
            <a:chExt cx="1661384" cy="404735"/>
          </a:xfrm>
        </p:grpSpPr>
        <p:sp>
          <p:nvSpPr>
            <p:cNvPr id="27" name="矩形 26"/>
            <p:cNvSpPr/>
            <p:nvPr/>
          </p:nvSpPr>
          <p:spPr>
            <a:xfrm>
              <a:off x="1851942" y="1779848"/>
              <a:ext cx="1615664" cy="40473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3000">
                  <a:schemeClr val="accent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ym typeface="+mn-ea"/>
                </a:rPr>
                <a:t>路由策略实现</a:t>
              </a:r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806222" y="1779849"/>
              <a:ext cx="45719" cy="4047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487410" y="2218690"/>
            <a:ext cx="2200910" cy="404495"/>
            <a:chOff x="1806222" y="1779848"/>
            <a:chExt cx="1661384" cy="404735"/>
          </a:xfrm>
        </p:grpSpPr>
        <p:sp>
          <p:nvSpPr>
            <p:cNvPr id="30" name="矩形 29"/>
            <p:cNvSpPr/>
            <p:nvPr/>
          </p:nvSpPr>
          <p:spPr>
            <a:xfrm>
              <a:off x="1851942" y="1779848"/>
              <a:ext cx="1615664" cy="40473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3000">
                  <a:schemeClr val="accent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ym typeface="+mn-ea"/>
                </a:rPr>
                <a:t>多种子聚合分析</a:t>
              </a:r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1806222" y="1779849"/>
              <a:ext cx="45719" cy="4047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36072" y="250187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项目简介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13434" y="250187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系统框图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90798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算法设计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78751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056113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874005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成果展示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6332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2100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451199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总结分析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36072" y="250187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项目简介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13434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系统框图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90798" y="250187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算法设计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78751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056113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874005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成果展示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6332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2100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451199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总结分析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36072" y="250187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项目简介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13434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系统框图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90798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算法设计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78751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056113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874005" y="252000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成果展示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6332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2100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451199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总结分析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998710" y="3371850"/>
            <a:ext cx="12960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seed=23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6885940" y="6376035"/>
            <a:ext cx="1296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buClrTx/>
              <a:buSzTx/>
              <a:buNone/>
            </a:pPr>
            <a:r>
              <a:rPr lang="en-US" altLang="zh-CN" sz="2000"/>
              <a:t>seed=34</a:t>
            </a:r>
            <a:endParaRPr lang="en-US" altLang="zh-CN" sz="2000"/>
          </a:p>
        </p:txBody>
      </p:sp>
      <p:sp>
        <p:nvSpPr>
          <p:cNvPr id="22" name="文本框 21"/>
          <p:cNvSpPr txBox="1"/>
          <p:nvPr/>
        </p:nvSpPr>
        <p:spPr>
          <a:xfrm>
            <a:off x="9998710" y="6360795"/>
            <a:ext cx="1296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buClrTx/>
              <a:buSzTx/>
              <a:buNone/>
            </a:pPr>
            <a:r>
              <a:rPr lang="en-US" altLang="zh-CN" sz="2000"/>
              <a:t>seed=45</a:t>
            </a:r>
            <a:endParaRPr lang="en-US" altLang="zh-CN" sz="2000"/>
          </a:p>
        </p:txBody>
      </p:sp>
      <p:sp>
        <p:nvSpPr>
          <p:cNvPr id="24" name="文本框 23"/>
          <p:cNvSpPr txBox="1"/>
          <p:nvPr/>
        </p:nvSpPr>
        <p:spPr>
          <a:xfrm>
            <a:off x="1243965" y="5438775"/>
            <a:ext cx="30619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/>
              <a:t>seed=1</a:t>
            </a:r>
            <a:r>
              <a:rPr lang="zh-CN" altLang="en-US" sz="2000"/>
              <a:t>，</a:t>
            </a:r>
            <a:r>
              <a:rPr lang="en-US" altLang="zh-CN" sz="2000"/>
              <a:t>episode=160</a:t>
            </a:r>
            <a:endParaRPr lang="en-US" altLang="zh-CN" sz="2000"/>
          </a:p>
          <a:p>
            <a:pPr algn="ctr">
              <a:lnSpc>
                <a:spcPct val="120000"/>
              </a:lnSpc>
            </a:pPr>
            <a:r>
              <a:rPr lang="zh-CN" altLang="en-US" sz="2000"/>
              <a:t>郑州</a:t>
            </a:r>
            <a:r>
              <a:rPr lang="en-US" altLang="zh-CN" sz="2000"/>
              <a:t>-&gt;</a:t>
            </a:r>
            <a:r>
              <a:rPr lang="zh-CN" altLang="en-US" sz="2000"/>
              <a:t>圣地亚哥</a:t>
            </a:r>
            <a:endParaRPr lang="zh-CN" altLang="en-US" sz="2000"/>
          </a:p>
          <a:p>
            <a:pPr algn="ctr">
              <a:lnSpc>
                <a:spcPct val="120000"/>
              </a:lnSpc>
            </a:pPr>
            <a:r>
              <a:rPr lang="en-US" altLang="zh-CN" sz="2000"/>
              <a:t>reward</a:t>
            </a:r>
            <a:r>
              <a:rPr lang="zh-CN" altLang="en-US" sz="2000"/>
              <a:t>、</a:t>
            </a:r>
            <a:r>
              <a:rPr lang="en-US" altLang="zh-CN" sz="2000"/>
              <a:t>delay</a:t>
            </a:r>
            <a:r>
              <a:rPr lang="zh-CN" altLang="en-US" sz="2000"/>
              <a:t>、</a:t>
            </a:r>
            <a:r>
              <a:rPr lang="en-US" altLang="zh-CN" sz="2000"/>
              <a:t>loss</a:t>
            </a:r>
            <a:endParaRPr lang="en-US" altLang="zh-CN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36072" y="250187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项目简介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13434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系统框图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90798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算法设计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478751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056113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874005" y="252000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成果展示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6332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2100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451199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总结分析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4645" y="1090295"/>
            <a:ext cx="3329305" cy="518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多随机种子聚合评估</a:t>
            </a:r>
            <a:endParaRPr lang="zh-CN" altLang="en-US" sz="2400" b="1" dirty="0">
              <a:solidFill>
                <a:schemeClr val="accent1"/>
              </a:solidFill>
            </a:endParaRPr>
          </a:p>
          <a:p>
            <a:endParaRPr lang="zh-CN" altLang="en-US" sz="2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769259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36072" y="250187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项目简介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3434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系统框图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290798" y="2501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算法设计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478751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056113" y="297875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874005" y="252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成果展示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46332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6210000" y="298800"/>
            <a:ext cx="0" cy="2739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451199" y="252000"/>
            <a:ext cx="1107996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总结分析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6" name="矩形: 圆角 4"/>
          <p:cNvSpPr/>
          <p:nvPr/>
        </p:nvSpPr>
        <p:spPr>
          <a:xfrm>
            <a:off x="1162050" y="1642745"/>
            <a:ext cx="3829050" cy="4769485"/>
          </a:xfrm>
          <a:prstGeom prst="roundRect">
            <a:avLst>
              <a:gd name="adj" fmla="val 3035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212080" y="3450590"/>
            <a:ext cx="1617345" cy="53149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7050309" y="1237966"/>
            <a:ext cx="1949450" cy="404735"/>
            <a:chOff x="1806222" y="1779848"/>
            <a:chExt cx="1949450" cy="404735"/>
          </a:xfrm>
        </p:grpSpPr>
        <p:sp>
          <p:nvSpPr>
            <p:cNvPr id="34" name="矩形 33"/>
            <p:cNvSpPr/>
            <p:nvPr/>
          </p:nvSpPr>
          <p:spPr>
            <a:xfrm>
              <a:off x="1851942" y="1779848"/>
              <a:ext cx="1903730" cy="4044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3000">
                  <a:schemeClr val="accent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sym typeface="+mn-ea"/>
                </a:rPr>
                <a:t>核心结论</a:t>
              </a:r>
              <a:endParaRPr lang="zh-CN" altLang="en-US" sz="2400" b="1">
                <a:sym typeface="+mn-ea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806222" y="1779849"/>
              <a:ext cx="45719" cy="4047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160049" y="1237966"/>
            <a:ext cx="2006600" cy="404735"/>
            <a:chOff x="1806222" y="1779848"/>
            <a:chExt cx="2006600" cy="404735"/>
          </a:xfrm>
        </p:grpSpPr>
        <p:sp>
          <p:nvSpPr>
            <p:cNvPr id="17" name="矩形 16"/>
            <p:cNvSpPr/>
            <p:nvPr/>
          </p:nvSpPr>
          <p:spPr>
            <a:xfrm>
              <a:off x="1851942" y="1779848"/>
              <a:ext cx="1960880" cy="40449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3000">
                  <a:schemeClr val="accent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sym typeface="+mn-ea"/>
                </a:rPr>
                <a:t>实验总结</a:t>
              </a:r>
              <a:endParaRPr lang="zh-CN" altLang="en-US" sz="2400" b="1">
                <a:sym typeface="+mn-ea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806222" y="1779849"/>
              <a:ext cx="45719" cy="4047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1767621"/>
            <a:ext cx="12192000" cy="21780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2" name="组合 101"/>
          <p:cNvGrpSpPr/>
          <p:nvPr/>
        </p:nvGrpSpPr>
        <p:grpSpPr>
          <a:xfrm>
            <a:off x="2521679" y="2248210"/>
            <a:ext cx="7237880" cy="1340010"/>
            <a:chOff x="3462464" y="2252253"/>
            <a:chExt cx="7237880" cy="1340010"/>
          </a:xfrm>
        </p:grpSpPr>
        <p:sp>
          <p:nvSpPr>
            <p:cNvPr id="44" name="文本框 43"/>
            <p:cNvSpPr txBox="1"/>
            <p:nvPr/>
          </p:nvSpPr>
          <p:spPr>
            <a:xfrm>
              <a:off x="3462464" y="2252253"/>
              <a:ext cx="723788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400" b="1" spc="600" dirty="0">
                  <a:solidFill>
                    <a:schemeClr val="bg1"/>
                  </a:solidFill>
                </a:rPr>
                <a:t>敬请各位老师批评指正！</a:t>
              </a:r>
              <a:endParaRPr lang="zh-CN" altLang="en-US" sz="4400" b="1" spc="600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4686071" y="3130598"/>
              <a:ext cx="47906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spc="300" dirty="0">
                  <a:solidFill>
                    <a:schemeClr val="bg1"/>
                  </a:solidFill>
                </a:rPr>
                <a:t>Thanks for your listening</a:t>
              </a:r>
              <a:endParaRPr lang="en-US" altLang="zh-CN" sz="2400" spc="300" dirty="0">
                <a:solidFill>
                  <a:schemeClr val="bg1"/>
                </a:solidFill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2471583" y="4889265"/>
            <a:ext cx="14617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/>
              <a:t>答 辩 人：</a:t>
            </a:r>
            <a:endParaRPr lang="zh-CN" altLang="en-US" spc="300" dirty="0"/>
          </a:p>
        </p:txBody>
      </p:sp>
      <p:sp>
        <p:nvSpPr>
          <p:cNvPr id="91" name="Freeform 174"/>
          <p:cNvSpPr/>
          <p:nvPr/>
        </p:nvSpPr>
        <p:spPr bwMode="auto">
          <a:xfrm>
            <a:off x="2179264" y="4965931"/>
            <a:ext cx="216000" cy="216000"/>
          </a:xfrm>
          <a:custGeom>
            <a:avLst/>
            <a:gdLst>
              <a:gd name="T0" fmla="*/ 128 w 128"/>
              <a:gd name="T1" fmla="*/ 128 h 128"/>
              <a:gd name="T2" fmla="*/ 128 w 128"/>
              <a:gd name="T3" fmla="*/ 115 h 128"/>
              <a:gd name="T4" fmla="*/ 118 w 128"/>
              <a:gd name="T5" fmla="*/ 101 h 128"/>
              <a:gd name="T6" fmla="*/ 118 w 128"/>
              <a:gd name="T7" fmla="*/ 101 h 128"/>
              <a:gd name="T8" fmla="*/ 83 w 128"/>
              <a:gd name="T9" fmla="*/ 84 h 128"/>
              <a:gd name="T10" fmla="*/ 85 w 128"/>
              <a:gd name="T11" fmla="*/ 72 h 128"/>
              <a:gd name="T12" fmla="*/ 88 w 128"/>
              <a:gd name="T13" fmla="*/ 68 h 128"/>
              <a:gd name="T14" fmla="*/ 88 w 128"/>
              <a:gd name="T15" fmla="*/ 68 h 128"/>
              <a:gd name="T16" fmla="*/ 88 w 128"/>
              <a:gd name="T17" fmla="*/ 68 h 128"/>
              <a:gd name="T18" fmla="*/ 97 w 128"/>
              <a:gd name="T19" fmla="*/ 36 h 128"/>
              <a:gd name="T20" fmla="*/ 64 w 128"/>
              <a:gd name="T21" fmla="*/ 0 h 128"/>
              <a:gd name="T22" fmla="*/ 64 w 128"/>
              <a:gd name="T23" fmla="*/ 0 h 128"/>
              <a:gd name="T24" fmla="*/ 64 w 128"/>
              <a:gd name="T25" fmla="*/ 0 h 128"/>
              <a:gd name="T26" fmla="*/ 64 w 128"/>
              <a:gd name="T27" fmla="*/ 0 h 128"/>
              <a:gd name="T28" fmla="*/ 64 w 128"/>
              <a:gd name="T29" fmla="*/ 0 h 128"/>
              <a:gd name="T30" fmla="*/ 31 w 128"/>
              <a:gd name="T31" fmla="*/ 36 h 128"/>
              <a:gd name="T32" fmla="*/ 40 w 128"/>
              <a:gd name="T33" fmla="*/ 68 h 128"/>
              <a:gd name="T34" fmla="*/ 40 w 128"/>
              <a:gd name="T35" fmla="*/ 68 h 128"/>
              <a:gd name="T36" fmla="*/ 40 w 128"/>
              <a:gd name="T37" fmla="*/ 68 h 128"/>
              <a:gd name="T38" fmla="*/ 43 w 128"/>
              <a:gd name="T39" fmla="*/ 72 h 128"/>
              <a:gd name="T40" fmla="*/ 45 w 128"/>
              <a:gd name="T41" fmla="*/ 84 h 128"/>
              <a:gd name="T42" fmla="*/ 10 w 128"/>
              <a:gd name="T43" fmla="*/ 101 h 128"/>
              <a:gd name="T44" fmla="*/ 10 w 128"/>
              <a:gd name="T45" fmla="*/ 101 h 128"/>
              <a:gd name="T46" fmla="*/ 0 w 128"/>
              <a:gd name="T47" fmla="*/ 115 h 128"/>
              <a:gd name="T48" fmla="*/ 0 w 128"/>
              <a:gd name="T49" fmla="*/ 128 h 128"/>
              <a:gd name="T50" fmla="*/ 128 w 128"/>
              <a:gd name="T51" fmla="*/ 12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8" h="128">
                <a:moveTo>
                  <a:pt x="128" y="128"/>
                </a:moveTo>
                <a:cubicBezTo>
                  <a:pt x="128" y="115"/>
                  <a:pt x="128" y="115"/>
                  <a:pt x="128" y="115"/>
                </a:cubicBezTo>
                <a:cubicBezTo>
                  <a:pt x="128" y="108"/>
                  <a:pt x="124" y="103"/>
                  <a:pt x="118" y="101"/>
                </a:cubicBezTo>
                <a:cubicBezTo>
                  <a:pt x="118" y="101"/>
                  <a:pt x="118" y="101"/>
                  <a:pt x="118" y="101"/>
                </a:cubicBezTo>
                <a:cubicBezTo>
                  <a:pt x="117" y="100"/>
                  <a:pt x="87" y="93"/>
                  <a:pt x="83" y="84"/>
                </a:cubicBezTo>
                <a:cubicBezTo>
                  <a:pt x="81" y="80"/>
                  <a:pt x="83" y="75"/>
                  <a:pt x="85" y="72"/>
                </a:cubicBezTo>
                <a:cubicBezTo>
                  <a:pt x="86" y="71"/>
                  <a:pt x="87" y="69"/>
                  <a:pt x="88" y="68"/>
                </a:cubicBezTo>
                <a:cubicBezTo>
                  <a:pt x="88" y="68"/>
                  <a:pt x="88" y="68"/>
                  <a:pt x="88" y="68"/>
                </a:cubicBezTo>
                <a:cubicBezTo>
                  <a:pt x="88" y="68"/>
                  <a:pt x="88" y="68"/>
                  <a:pt x="88" y="68"/>
                </a:cubicBezTo>
                <a:cubicBezTo>
                  <a:pt x="93" y="60"/>
                  <a:pt x="97" y="49"/>
                  <a:pt x="97" y="36"/>
                </a:cubicBezTo>
                <a:cubicBezTo>
                  <a:pt x="98" y="16"/>
                  <a:pt x="82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46" y="0"/>
                  <a:pt x="30" y="16"/>
                  <a:pt x="31" y="36"/>
                </a:cubicBezTo>
                <a:cubicBezTo>
                  <a:pt x="31" y="49"/>
                  <a:pt x="35" y="60"/>
                  <a:pt x="40" y="68"/>
                </a:cubicBezTo>
                <a:cubicBezTo>
                  <a:pt x="40" y="68"/>
                  <a:pt x="40" y="68"/>
                  <a:pt x="40" y="68"/>
                </a:cubicBezTo>
                <a:cubicBezTo>
                  <a:pt x="40" y="68"/>
                  <a:pt x="40" y="68"/>
                  <a:pt x="40" y="68"/>
                </a:cubicBezTo>
                <a:cubicBezTo>
                  <a:pt x="41" y="69"/>
                  <a:pt x="42" y="71"/>
                  <a:pt x="43" y="72"/>
                </a:cubicBezTo>
                <a:cubicBezTo>
                  <a:pt x="45" y="75"/>
                  <a:pt x="47" y="80"/>
                  <a:pt x="45" y="84"/>
                </a:cubicBezTo>
                <a:cubicBezTo>
                  <a:pt x="41" y="93"/>
                  <a:pt x="11" y="100"/>
                  <a:pt x="10" y="101"/>
                </a:cubicBezTo>
                <a:cubicBezTo>
                  <a:pt x="10" y="101"/>
                  <a:pt x="10" y="101"/>
                  <a:pt x="10" y="101"/>
                </a:cubicBezTo>
                <a:cubicBezTo>
                  <a:pt x="4" y="103"/>
                  <a:pt x="0" y="108"/>
                  <a:pt x="0" y="115"/>
                </a:cubicBezTo>
                <a:cubicBezTo>
                  <a:pt x="0" y="128"/>
                  <a:pt x="0" y="128"/>
                  <a:pt x="0" y="128"/>
                </a:cubicBezTo>
                <a:lnTo>
                  <a:pt x="128" y="1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8042438" y="5394262"/>
            <a:ext cx="299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200" dirty="0"/>
              <a:t>答辩时间：</a:t>
            </a:r>
            <a:r>
              <a:rPr lang="en-US" altLang="zh-CN" spc="200" dirty="0"/>
              <a:t>2026/04/10</a:t>
            </a:r>
            <a:endParaRPr lang="zh-CN" altLang="en-US" dirty="0"/>
          </a:p>
        </p:txBody>
      </p:sp>
      <p:grpSp>
        <p:nvGrpSpPr>
          <p:cNvPr id="92" name="组合 91"/>
          <p:cNvGrpSpPr/>
          <p:nvPr/>
        </p:nvGrpSpPr>
        <p:grpSpPr>
          <a:xfrm>
            <a:off x="7750119" y="5470928"/>
            <a:ext cx="216000" cy="216000"/>
            <a:chOff x="7296150" y="5111751"/>
            <a:chExt cx="479425" cy="481013"/>
          </a:xfrm>
          <a:solidFill>
            <a:schemeClr val="accent1"/>
          </a:solidFill>
        </p:grpSpPr>
        <p:sp>
          <p:nvSpPr>
            <p:cNvPr id="93" name="Freeform 56"/>
            <p:cNvSpPr>
              <a:spLocks noEditPoints="1"/>
            </p:cNvSpPr>
            <p:nvPr/>
          </p:nvSpPr>
          <p:spPr bwMode="auto">
            <a:xfrm>
              <a:off x="7296150" y="5111751"/>
              <a:ext cx="479425" cy="481013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64 w 128"/>
                <a:gd name="T9" fmla="*/ 0 h 128"/>
                <a:gd name="T10" fmla="*/ 64 w 128"/>
                <a:gd name="T11" fmla="*/ 113 h 128"/>
                <a:gd name="T12" fmla="*/ 15 w 128"/>
                <a:gd name="T13" fmla="*/ 64 h 128"/>
                <a:gd name="T14" fmla="*/ 64 w 128"/>
                <a:gd name="T15" fmla="*/ 15 h 128"/>
                <a:gd name="T16" fmla="*/ 113 w 128"/>
                <a:gd name="T17" fmla="*/ 64 h 128"/>
                <a:gd name="T18" fmla="*/ 64 w 128"/>
                <a:gd name="T19" fmla="*/ 11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64" y="113"/>
                  </a:moveTo>
                  <a:cubicBezTo>
                    <a:pt x="37" y="113"/>
                    <a:pt x="15" y="91"/>
                    <a:pt x="15" y="64"/>
                  </a:cubicBezTo>
                  <a:cubicBezTo>
                    <a:pt x="15" y="37"/>
                    <a:pt x="37" y="15"/>
                    <a:pt x="64" y="15"/>
                  </a:cubicBezTo>
                  <a:cubicBezTo>
                    <a:pt x="91" y="15"/>
                    <a:pt x="113" y="37"/>
                    <a:pt x="113" y="64"/>
                  </a:cubicBezTo>
                  <a:cubicBezTo>
                    <a:pt x="113" y="91"/>
                    <a:pt x="91" y="113"/>
                    <a:pt x="64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57"/>
            <p:cNvSpPr/>
            <p:nvPr/>
          </p:nvSpPr>
          <p:spPr bwMode="auto">
            <a:xfrm>
              <a:off x="7508875" y="5221288"/>
              <a:ext cx="153988" cy="214313"/>
            </a:xfrm>
            <a:custGeom>
              <a:avLst/>
              <a:gdLst>
                <a:gd name="T0" fmla="*/ 33 w 97"/>
                <a:gd name="T1" fmla="*/ 0 h 135"/>
                <a:gd name="T2" fmla="*/ 0 w 97"/>
                <a:gd name="T3" fmla="*/ 0 h 135"/>
                <a:gd name="T4" fmla="*/ 0 w 97"/>
                <a:gd name="T5" fmla="*/ 99 h 135"/>
                <a:gd name="T6" fmla="*/ 86 w 97"/>
                <a:gd name="T7" fmla="*/ 135 h 135"/>
                <a:gd name="T8" fmla="*/ 97 w 97"/>
                <a:gd name="T9" fmla="*/ 104 h 135"/>
                <a:gd name="T10" fmla="*/ 33 w 97"/>
                <a:gd name="T11" fmla="*/ 78 h 135"/>
                <a:gd name="T12" fmla="*/ 33 w 97"/>
                <a:gd name="T1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135">
                  <a:moveTo>
                    <a:pt x="33" y="0"/>
                  </a:moveTo>
                  <a:lnTo>
                    <a:pt x="0" y="0"/>
                  </a:lnTo>
                  <a:lnTo>
                    <a:pt x="0" y="99"/>
                  </a:lnTo>
                  <a:lnTo>
                    <a:pt x="86" y="135"/>
                  </a:lnTo>
                  <a:lnTo>
                    <a:pt x="97" y="104"/>
                  </a:lnTo>
                  <a:lnTo>
                    <a:pt x="33" y="78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8042438" y="4889803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200" dirty="0"/>
              <a:t>专 业：通信工程</a:t>
            </a:r>
            <a:endParaRPr lang="zh-CN" altLang="en-US" dirty="0"/>
          </a:p>
        </p:txBody>
      </p:sp>
      <p:sp>
        <p:nvSpPr>
          <p:cNvPr id="95" name="Freeform 146"/>
          <p:cNvSpPr/>
          <p:nvPr/>
        </p:nvSpPr>
        <p:spPr bwMode="auto">
          <a:xfrm>
            <a:off x="7767775" y="4967119"/>
            <a:ext cx="180689" cy="214701"/>
          </a:xfrm>
          <a:custGeom>
            <a:avLst/>
            <a:gdLst>
              <a:gd name="T0" fmla="*/ 14 w 108"/>
              <a:gd name="T1" fmla="*/ 10 h 128"/>
              <a:gd name="T2" fmla="*/ 14 w 108"/>
              <a:gd name="T3" fmla="*/ 10 h 128"/>
              <a:gd name="T4" fmla="*/ 108 w 108"/>
              <a:gd name="T5" fmla="*/ 10 h 128"/>
              <a:gd name="T6" fmla="*/ 108 w 108"/>
              <a:gd name="T7" fmla="*/ 0 h 128"/>
              <a:gd name="T8" fmla="*/ 15 w 108"/>
              <a:gd name="T9" fmla="*/ 0 h 128"/>
              <a:gd name="T10" fmla="*/ 0 w 108"/>
              <a:gd name="T11" fmla="*/ 15 h 128"/>
              <a:gd name="T12" fmla="*/ 0 w 108"/>
              <a:gd name="T13" fmla="*/ 113 h 128"/>
              <a:gd name="T14" fmla="*/ 0 w 108"/>
              <a:gd name="T15" fmla="*/ 113 h 128"/>
              <a:gd name="T16" fmla="*/ 15 w 108"/>
              <a:gd name="T17" fmla="*/ 128 h 128"/>
              <a:gd name="T18" fmla="*/ 108 w 108"/>
              <a:gd name="T19" fmla="*/ 128 h 128"/>
              <a:gd name="T20" fmla="*/ 108 w 108"/>
              <a:gd name="T21" fmla="*/ 20 h 128"/>
              <a:gd name="T22" fmla="*/ 14 w 108"/>
              <a:gd name="T23" fmla="*/ 20 h 128"/>
              <a:gd name="T24" fmla="*/ 14 w 108"/>
              <a:gd name="T25" fmla="*/ 20 h 128"/>
              <a:gd name="T26" fmla="*/ 10 w 108"/>
              <a:gd name="T27" fmla="*/ 15 h 128"/>
              <a:gd name="T28" fmla="*/ 14 w 108"/>
              <a:gd name="T29" fmla="*/ 1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8" h="128">
                <a:moveTo>
                  <a:pt x="14" y="10"/>
                </a:moveTo>
                <a:cubicBezTo>
                  <a:pt x="14" y="10"/>
                  <a:pt x="14" y="10"/>
                  <a:pt x="14" y="10"/>
                </a:cubicBezTo>
                <a:cubicBezTo>
                  <a:pt x="15" y="10"/>
                  <a:pt x="78" y="10"/>
                  <a:pt x="108" y="10"/>
                </a:cubicBezTo>
                <a:cubicBezTo>
                  <a:pt x="108" y="0"/>
                  <a:pt x="108" y="0"/>
                  <a:pt x="108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7"/>
                  <a:pt x="0" y="15"/>
                </a:cubicBezTo>
                <a:cubicBezTo>
                  <a:pt x="0" y="16"/>
                  <a:pt x="0" y="83"/>
                  <a:pt x="0" y="113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21"/>
                  <a:pt x="7" y="128"/>
                  <a:pt x="15" y="128"/>
                </a:cubicBezTo>
                <a:cubicBezTo>
                  <a:pt x="15" y="128"/>
                  <a:pt x="82" y="128"/>
                  <a:pt x="108" y="128"/>
                </a:cubicBezTo>
                <a:cubicBezTo>
                  <a:pt x="108" y="20"/>
                  <a:pt x="108" y="20"/>
                  <a:pt x="108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2" y="19"/>
                  <a:pt x="10" y="17"/>
                  <a:pt x="10" y="15"/>
                </a:cubicBezTo>
                <a:cubicBezTo>
                  <a:pt x="10" y="12"/>
                  <a:pt x="12" y="10"/>
                  <a:pt x="14" y="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2471583" y="5393724"/>
            <a:ext cx="1452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200" dirty="0"/>
              <a:t>指导老师：</a:t>
            </a:r>
            <a:endParaRPr lang="zh-CN" altLang="en-US" dirty="0"/>
          </a:p>
        </p:txBody>
      </p:sp>
      <p:sp>
        <p:nvSpPr>
          <p:cNvPr id="96" name="teacher-reading-a-book-sitting-behind-his-desk_42916"/>
          <p:cNvSpPr/>
          <p:nvPr/>
        </p:nvSpPr>
        <p:spPr>
          <a:xfrm>
            <a:off x="2179264" y="5452809"/>
            <a:ext cx="216000" cy="251163"/>
          </a:xfrm>
          <a:custGeom>
            <a:avLst/>
            <a:gdLst>
              <a:gd name="connsiteX0" fmla="*/ 193784 w 523934"/>
              <a:gd name="connsiteY0" fmla="*/ 190536 h 609225"/>
              <a:gd name="connsiteX1" fmla="*/ 193784 w 523934"/>
              <a:gd name="connsiteY1" fmla="*/ 227817 h 609225"/>
              <a:gd name="connsiteX2" fmla="*/ 205267 w 523934"/>
              <a:gd name="connsiteY2" fmla="*/ 227817 h 609225"/>
              <a:gd name="connsiteX3" fmla="*/ 205267 w 523934"/>
              <a:gd name="connsiteY3" fmla="*/ 273700 h 609225"/>
              <a:gd name="connsiteX4" fmla="*/ 193784 w 523934"/>
              <a:gd name="connsiteY4" fmla="*/ 273700 h 609225"/>
              <a:gd name="connsiteX5" fmla="*/ 193784 w 523934"/>
              <a:gd name="connsiteY5" fmla="*/ 283737 h 609225"/>
              <a:gd name="connsiteX6" fmla="*/ 256943 w 523934"/>
              <a:gd name="connsiteY6" fmla="*/ 295208 h 609225"/>
              <a:gd name="connsiteX7" fmla="*/ 320102 w 523934"/>
              <a:gd name="connsiteY7" fmla="*/ 283737 h 609225"/>
              <a:gd name="connsiteX8" fmla="*/ 320102 w 523934"/>
              <a:gd name="connsiteY8" fmla="*/ 273700 h 609225"/>
              <a:gd name="connsiteX9" fmla="*/ 308619 w 523934"/>
              <a:gd name="connsiteY9" fmla="*/ 273700 h 609225"/>
              <a:gd name="connsiteX10" fmla="*/ 308619 w 523934"/>
              <a:gd name="connsiteY10" fmla="*/ 227817 h 609225"/>
              <a:gd name="connsiteX11" fmla="*/ 320102 w 523934"/>
              <a:gd name="connsiteY11" fmla="*/ 227817 h 609225"/>
              <a:gd name="connsiteX12" fmla="*/ 320102 w 523934"/>
              <a:gd name="connsiteY12" fmla="*/ 190536 h 609225"/>
              <a:gd name="connsiteX13" fmla="*/ 256943 w 523934"/>
              <a:gd name="connsiteY13" fmla="*/ 202007 h 609225"/>
              <a:gd name="connsiteX14" fmla="*/ 175123 w 523934"/>
              <a:gd name="connsiteY14" fmla="*/ 167594 h 609225"/>
              <a:gd name="connsiteX15" fmla="*/ 256943 w 523934"/>
              <a:gd name="connsiteY15" fmla="*/ 181933 h 609225"/>
              <a:gd name="connsiteX16" fmla="*/ 340198 w 523934"/>
              <a:gd name="connsiteY16" fmla="*/ 167594 h 609225"/>
              <a:gd name="connsiteX17" fmla="*/ 340198 w 523934"/>
              <a:gd name="connsiteY17" fmla="*/ 184801 h 609225"/>
              <a:gd name="connsiteX18" fmla="*/ 384697 w 523934"/>
              <a:gd name="connsiteY18" fmla="*/ 190536 h 609225"/>
              <a:gd name="connsiteX19" fmla="*/ 394745 w 523934"/>
              <a:gd name="connsiteY19" fmla="*/ 227817 h 609225"/>
              <a:gd name="connsiteX20" fmla="*/ 409099 w 523934"/>
              <a:gd name="connsiteY20" fmla="*/ 273700 h 609225"/>
              <a:gd name="connsiteX21" fmla="*/ 348811 w 523934"/>
              <a:gd name="connsiteY21" fmla="*/ 273700 h 609225"/>
              <a:gd name="connsiteX22" fmla="*/ 350246 w 523934"/>
              <a:gd name="connsiteY22" fmla="*/ 308113 h 609225"/>
              <a:gd name="connsiteX23" fmla="*/ 523934 w 523934"/>
              <a:gd name="connsiteY23" fmla="*/ 308113 h 609225"/>
              <a:gd name="connsiteX24" fmla="*/ 523934 w 523934"/>
              <a:gd name="connsiteY24" fmla="*/ 376939 h 609225"/>
              <a:gd name="connsiteX25" fmla="*/ 482306 w 523934"/>
              <a:gd name="connsiteY25" fmla="*/ 376939 h 609225"/>
              <a:gd name="connsiteX26" fmla="*/ 482306 w 523934"/>
              <a:gd name="connsiteY26" fmla="*/ 609225 h 609225"/>
              <a:gd name="connsiteX27" fmla="*/ 41628 w 523934"/>
              <a:gd name="connsiteY27" fmla="*/ 609225 h 609225"/>
              <a:gd name="connsiteX28" fmla="*/ 41628 w 523934"/>
              <a:gd name="connsiteY28" fmla="*/ 376939 h 609225"/>
              <a:gd name="connsiteX29" fmla="*/ 0 w 523934"/>
              <a:gd name="connsiteY29" fmla="*/ 376939 h 609225"/>
              <a:gd name="connsiteX30" fmla="*/ 0 w 523934"/>
              <a:gd name="connsiteY30" fmla="*/ 308113 h 609225"/>
              <a:gd name="connsiteX31" fmla="*/ 170817 w 523934"/>
              <a:gd name="connsiteY31" fmla="*/ 308113 h 609225"/>
              <a:gd name="connsiteX32" fmla="*/ 170817 w 523934"/>
              <a:gd name="connsiteY32" fmla="*/ 273700 h 609225"/>
              <a:gd name="connsiteX33" fmla="*/ 99045 w 523934"/>
              <a:gd name="connsiteY33" fmla="*/ 273700 h 609225"/>
              <a:gd name="connsiteX34" fmla="*/ 104787 w 523934"/>
              <a:gd name="connsiteY34" fmla="*/ 262229 h 609225"/>
              <a:gd name="connsiteX35" fmla="*/ 103351 w 523934"/>
              <a:gd name="connsiteY35" fmla="*/ 262229 h 609225"/>
              <a:gd name="connsiteX36" fmla="*/ 139237 w 523934"/>
              <a:gd name="connsiteY36" fmla="*/ 190536 h 609225"/>
              <a:gd name="connsiteX37" fmla="*/ 175123 w 523934"/>
              <a:gd name="connsiteY37" fmla="*/ 186235 h 609225"/>
              <a:gd name="connsiteX38" fmla="*/ 261393 w 523934"/>
              <a:gd name="connsiteY38" fmla="*/ 0 h 609225"/>
              <a:gd name="connsiteX39" fmla="*/ 344616 w 523934"/>
              <a:gd name="connsiteY39" fmla="*/ 83108 h 609225"/>
              <a:gd name="connsiteX40" fmla="*/ 261393 w 523934"/>
              <a:gd name="connsiteY40" fmla="*/ 166216 h 609225"/>
              <a:gd name="connsiteX41" fmla="*/ 178170 w 523934"/>
              <a:gd name="connsiteY41" fmla="*/ 83108 h 609225"/>
              <a:gd name="connsiteX42" fmla="*/ 261393 w 523934"/>
              <a:gd name="connsiteY42" fmla="*/ 0 h 60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23934" h="609225">
                <a:moveTo>
                  <a:pt x="193784" y="190536"/>
                </a:moveTo>
                <a:lnTo>
                  <a:pt x="193784" y="227817"/>
                </a:lnTo>
                <a:lnTo>
                  <a:pt x="205267" y="227817"/>
                </a:lnTo>
                <a:lnTo>
                  <a:pt x="205267" y="273700"/>
                </a:lnTo>
                <a:lnTo>
                  <a:pt x="193784" y="273700"/>
                </a:lnTo>
                <a:lnTo>
                  <a:pt x="193784" y="283737"/>
                </a:lnTo>
                <a:lnTo>
                  <a:pt x="256943" y="295208"/>
                </a:lnTo>
                <a:lnTo>
                  <a:pt x="320102" y="283737"/>
                </a:lnTo>
                <a:lnTo>
                  <a:pt x="320102" y="273700"/>
                </a:lnTo>
                <a:lnTo>
                  <a:pt x="308619" y="273700"/>
                </a:lnTo>
                <a:lnTo>
                  <a:pt x="308619" y="227817"/>
                </a:lnTo>
                <a:lnTo>
                  <a:pt x="320102" y="227817"/>
                </a:lnTo>
                <a:lnTo>
                  <a:pt x="320102" y="190536"/>
                </a:lnTo>
                <a:lnTo>
                  <a:pt x="256943" y="202007"/>
                </a:lnTo>
                <a:close/>
                <a:moveTo>
                  <a:pt x="175123" y="167594"/>
                </a:moveTo>
                <a:lnTo>
                  <a:pt x="256943" y="181933"/>
                </a:lnTo>
                <a:lnTo>
                  <a:pt x="340198" y="167594"/>
                </a:lnTo>
                <a:lnTo>
                  <a:pt x="340198" y="184801"/>
                </a:lnTo>
                <a:lnTo>
                  <a:pt x="384697" y="190536"/>
                </a:lnTo>
                <a:lnTo>
                  <a:pt x="394745" y="227817"/>
                </a:lnTo>
                <a:lnTo>
                  <a:pt x="409099" y="273700"/>
                </a:lnTo>
                <a:lnTo>
                  <a:pt x="348811" y="273700"/>
                </a:lnTo>
                <a:lnTo>
                  <a:pt x="350246" y="308113"/>
                </a:lnTo>
                <a:lnTo>
                  <a:pt x="523934" y="308113"/>
                </a:lnTo>
                <a:lnTo>
                  <a:pt x="523934" y="376939"/>
                </a:lnTo>
                <a:lnTo>
                  <a:pt x="482306" y="376939"/>
                </a:lnTo>
                <a:lnTo>
                  <a:pt x="482306" y="609225"/>
                </a:lnTo>
                <a:lnTo>
                  <a:pt x="41628" y="609225"/>
                </a:lnTo>
                <a:lnTo>
                  <a:pt x="41628" y="376939"/>
                </a:lnTo>
                <a:lnTo>
                  <a:pt x="0" y="376939"/>
                </a:lnTo>
                <a:lnTo>
                  <a:pt x="0" y="308113"/>
                </a:lnTo>
                <a:lnTo>
                  <a:pt x="170817" y="308113"/>
                </a:lnTo>
                <a:lnTo>
                  <a:pt x="170817" y="273700"/>
                </a:lnTo>
                <a:lnTo>
                  <a:pt x="99045" y="273700"/>
                </a:lnTo>
                <a:lnTo>
                  <a:pt x="104787" y="262229"/>
                </a:lnTo>
                <a:lnTo>
                  <a:pt x="103351" y="262229"/>
                </a:lnTo>
                <a:lnTo>
                  <a:pt x="139237" y="190536"/>
                </a:lnTo>
                <a:lnTo>
                  <a:pt x="175123" y="186235"/>
                </a:lnTo>
                <a:close/>
                <a:moveTo>
                  <a:pt x="261393" y="0"/>
                </a:moveTo>
                <a:cubicBezTo>
                  <a:pt x="307356" y="0"/>
                  <a:pt x="344616" y="37209"/>
                  <a:pt x="344616" y="83108"/>
                </a:cubicBezTo>
                <a:cubicBezTo>
                  <a:pt x="344616" y="129007"/>
                  <a:pt x="307356" y="166216"/>
                  <a:pt x="261393" y="166216"/>
                </a:cubicBezTo>
                <a:cubicBezTo>
                  <a:pt x="215430" y="166216"/>
                  <a:pt x="178170" y="129007"/>
                  <a:pt x="178170" y="83108"/>
                </a:cubicBezTo>
                <a:cubicBezTo>
                  <a:pt x="178170" y="37209"/>
                  <a:pt x="215430" y="0"/>
                  <a:pt x="26139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ISLIDE.ICON" val="#151255;"/>
</p:tagLst>
</file>

<file path=ppt/tags/tag2.xml><?xml version="1.0" encoding="utf-8"?>
<p:tagLst xmlns:p="http://schemas.openxmlformats.org/presentationml/2006/main">
  <p:tag name="ISLIDE.ICON" val="#151255;"/>
</p:tagLst>
</file>

<file path=ppt/tags/tag3.xml><?xml version="1.0" encoding="utf-8"?>
<p:tagLst xmlns:p="http://schemas.openxmlformats.org/presentationml/2006/main">
  <p:tag name="COMMONDATA" val="eyJoZGlkIjoiZmIxYzhmNmFkYTc5YzBkNGM3ZDU5YWNhZDcxMDA1MjIifQ=="/>
</p:tagLst>
</file>

<file path=ppt/theme/theme1.xml><?xml version="1.0" encoding="utf-8"?>
<a:theme xmlns:a="http://schemas.openxmlformats.org/drawingml/2006/main" name="Office 主题​​">
  <a:themeElements>
    <a:clrScheme name="武汉大学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1574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83060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</Words>
  <Application>WPS 演示</Application>
  <PresentationFormat>宽屏</PresentationFormat>
  <Paragraphs>159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等线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亿万个为什么</cp:lastModifiedBy>
  <cp:revision>67</cp:revision>
  <dcterms:created xsi:type="dcterms:W3CDTF">2023-01-05T18:27:00Z</dcterms:created>
  <dcterms:modified xsi:type="dcterms:W3CDTF">2026-06-02T05:32:50Z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210A080B608D427F8BA010F487760989_13</vt:lpwstr>
  </property>
  <property fmtid="{D5CDD505-2E9C-101B-9397-08002B2CF9AE}" pid="3" name="KSOProductBuildVer">
    <vt:lpwstr>2052-12.1.0.21171</vt:lpwstr>
  </property>
</Properties>
</file>